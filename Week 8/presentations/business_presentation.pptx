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Arial"/>
              </a:rPr>
              <a:t>Mean Price by Location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Price (INR)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,,&quot;Cr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Rural</c:v>
                  </c:pt>
                  <c:pt idx="1">
                    <c:v>Suburb</c:v>
                  </c:pt>
                  <c:pt idx="2">
                    <c:v>City Center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16461429</c:v>
                </c:pt>
                <c:pt idx="1">
                  <c:v>25108071</c:v>
                </c:pt>
                <c:pt idx="2">
                  <c:v>33149794</c:v>
                </c:pt>
              </c:numCache>
            </c:numRef>
          </c:val>
        </c:ser>
        <c:dLbls>
          <c:numFmt formatCode="#,##0,,&quot;Cr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828800"/>
            <a:ext cx="5486400" cy="5486400"/>
          </a:xfrm>
          <a:prstGeom prst="ellipse">
            <a:avLst/>
          </a:prstGeom>
          <a:solidFill>
            <a:srgbClr val="263280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754880"/>
            <a:ext cx="4114800" cy="4114800"/>
          </a:xfrm>
          <a:prstGeom prst="ellipse">
            <a:avLst/>
          </a:prstGeom>
          <a:solidFill>
            <a:srgbClr val="26328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MARKET ANALYSIS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Property Price?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Exploratory Analysis, Feature Engineering &amp; Hypothesis Testing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Listings   |   8 Attributes   |   4-Stage Analysis Pipeline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7602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602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155448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Dataset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26480" y="155448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355080" y="17602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17602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086600" y="155448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9946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994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08760" y="278892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Quality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26480" y="278892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55080" y="29946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2994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086600" y="278892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2291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2291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08760" y="402336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Analysis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26480" y="402336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55080" y="42291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42291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086600" y="402336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8640" y="525780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77240" y="54635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4635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508760" y="525780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26480" y="525780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55080" y="54635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6355080" y="54635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086600" y="525780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&amp; Recommendations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Dataset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property attributes are meaningfully associated with sale Price, quantify the strength of those relationships, and statistically validate them rather than relying on visual inspection alone.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35661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goal: produce a clean, documented, reproducible dataset ready for predictive modeling.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949440" y="146304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949440" y="1600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949440" y="22219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Records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555480" y="146304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555480" y="1600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9555480" y="22219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Tracked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49440" y="310896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49440" y="3246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949440" y="38679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555480" y="310896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555480" y="3246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555480" y="38679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in Pipeline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three-stage notebook pipeline, each stage answering a distinct question: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03120" y="25146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2103120" y="2514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3566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40690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data trustworthy?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4709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1_data_cleaning.ipynb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0" y="33832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709160" y="219456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89320" y="2514600"/>
            <a:ext cx="822960" cy="8229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3" name="Text 11"/>
          <p:cNvSpPr/>
          <p:nvPr/>
        </p:nvSpPr>
        <p:spPr>
          <a:xfrm>
            <a:off x="5989320" y="2514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09160" y="3566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983480" y="40690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patterns exist?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4709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2_eda.ipynb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92440" y="33832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8595360" y="219456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875520" y="25146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9875520" y="2514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595360" y="3566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869680" y="40690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those patterns real?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869680" y="4709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3_analysis.ipynb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Column Reference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4846320"/>
        </p:xfrm>
        <a:graphic>
          <a:graphicData uri="http://schemas.openxmlformats.org/drawingml/2006/table">
            <a:tbl>
              <a:tblPr/>
              <a:tblGrid>
                <a:gridCol w="2926080"/>
                <a:gridCol w="2011680"/>
                <a:gridCol w="6126480"/>
              </a:tblGrid>
              <a:tr h="538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Property_ID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Text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Unique identifier per listing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Area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Integer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Property size in square feet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Bedrooms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Integer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Number of bedrooms (1–5)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Bathrooms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Integer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Number of bathrooms (1–3)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Age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Integer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Property age in years (0–49)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Location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Category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City Center / Suburb / Rural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Property_Type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Category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House / Villa / Apartment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Price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Integer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Sale price (INR)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— All Checks Passed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810512"/>
            <a:ext cx="548640" cy="548640"/>
          </a:xfrm>
          <a:prstGeom prst="ellipse">
            <a:avLst/>
          </a:prstGeom>
          <a:solidFill>
            <a:srgbClr val="1E8E3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810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3040" y="155448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06240" y="155448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407408" y="1810512"/>
            <a:ext cx="548640" cy="548640"/>
          </a:xfrm>
          <a:prstGeom prst="ellipse">
            <a:avLst/>
          </a:prstGeom>
          <a:solidFill>
            <a:srgbClr val="1E8E3E"/>
          </a:solidFill>
          <a:ln/>
        </p:spPr>
      </p:sp>
      <p:sp>
        <p:nvSpPr>
          <p:cNvPr id="9" name="Text 7"/>
          <p:cNvSpPr/>
          <p:nvPr/>
        </p:nvSpPr>
        <p:spPr>
          <a:xfrm>
            <a:off x="4407408" y="1810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120640" y="155448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rows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863840" y="155448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65008" y="1810512"/>
            <a:ext cx="548640" cy="548640"/>
          </a:xfrm>
          <a:prstGeom prst="ellipse">
            <a:avLst/>
          </a:prstGeom>
          <a:solidFill>
            <a:srgbClr val="1E8E3E"/>
          </a:solidFill>
          <a:ln/>
        </p:spPr>
      </p:sp>
      <p:sp>
        <p:nvSpPr>
          <p:cNvPr id="13" name="Text 11"/>
          <p:cNvSpPr/>
          <p:nvPr/>
        </p:nvSpPr>
        <p:spPr>
          <a:xfrm>
            <a:off x="8065008" y="1810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778240" y="155448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IDs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283464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9808" y="3090672"/>
            <a:ext cx="548640" cy="548640"/>
          </a:xfrm>
          <a:prstGeom prst="ellipse">
            <a:avLst/>
          </a:prstGeom>
          <a:solidFill>
            <a:srgbClr val="1E8E3E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3090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63040" y="283464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data types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206240" y="283464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07408" y="3090672"/>
            <a:ext cx="548640" cy="548640"/>
          </a:xfrm>
          <a:prstGeom prst="ellipse">
            <a:avLst/>
          </a:prstGeom>
          <a:solidFill>
            <a:srgbClr val="1E8E3E"/>
          </a:solidFill>
          <a:ln/>
        </p:spPr>
      </p:sp>
      <p:sp>
        <p:nvSpPr>
          <p:cNvPr id="21" name="Text 19"/>
          <p:cNvSpPr/>
          <p:nvPr/>
        </p:nvSpPr>
        <p:spPr>
          <a:xfrm>
            <a:off x="4407408" y="3090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120640" y="283464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invalid ranges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863840" y="283464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65008" y="3090672"/>
            <a:ext cx="548640" cy="548640"/>
          </a:xfrm>
          <a:prstGeom prst="ellipse">
            <a:avLst/>
          </a:prstGeom>
          <a:solidFill>
            <a:srgbClr val="1E8E3E"/>
          </a:solidFill>
          <a:ln/>
        </p:spPr>
      </p:sp>
      <p:sp>
        <p:nvSpPr>
          <p:cNvPr id="25" name="Text 23"/>
          <p:cNvSpPr/>
          <p:nvPr/>
        </p:nvSpPr>
        <p:spPr>
          <a:xfrm>
            <a:off x="8065008" y="3090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778240" y="283464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categories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411480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49808" y="4370832"/>
            <a:ext cx="548640" cy="548640"/>
          </a:xfrm>
          <a:prstGeom prst="ellipse">
            <a:avLst/>
          </a:prstGeom>
          <a:solidFill>
            <a:srgbClr val="1E8E3E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" y="4370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463040" y="411480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statistical outliers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206240" y="411480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206240" y="4187952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/ 7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4206240" y="480974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Passed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Univariate Analysis — Price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₹2.49 Cr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1762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54680" y="146304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15468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₹2.24 Cr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154680" y="21762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60720" y="146304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76072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760720" y="21762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66760" y="146304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6676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66760" y="21762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(IQR)</a:t>
            </a:r>
            <a:endParaRPr lang="en-US" sz="1200" dirty="0"/>
          </a:p>
        </p:txBody>
      </p:sp>
      <p:pic>
        <p:nvPicPr>
          <p:cNvPr id="15" name="Image 0" descr="slide_price_d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788920"/>
            <a:ext cx="10149840" cy="36576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Univariate Analysis — Remaining Columns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4754880" cy="2377440"/>
        </p:xfrm>
        <a:graphic>
          <a:graphicData uri="http://schemas.openxmlformats.org/drawingml/2006/table">
            <a:tbl>
              <a:tblPr/>
              <a:tblGrid>
                <a:gridCol w="1737360"/>
                <a:gridCol w="1371600"/>
                <a:gridCol w="16459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Skew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Shape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Area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0.01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Symmetric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Bedrooms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-0.12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Symmetric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Bathrooms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-0.05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Symmetric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Age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-0.03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Symmetric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1148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Bedrooms and Bathrooms are discrete counts (not continuous), which shows as separated spikes rather than a smooth curve — expected, not a data issue.</a:t>
            </a:r>
            <a:endParaRPr lang="en-US" sz="1300" dirty="0"/>
          </a:p>
        </p:txBody>
      </p:sp>
      <p:pic>
        <p:nvPicPr>
          <p:cNvPr id="5" name="Image 0" descr="rpt_categorical_cou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463040"/>
            <a:ext cx="6035040" cy="2286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77840" y="38862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&amp; Property_Type listings are evenly distributed — no category dominates the dataset.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Bivariate Analysis — Correlation</a:t>
            </a:r>
            <a:endParaRPr lang="en-US" sz="3200" dirty="0"/>
          </a:p>
        </p:txBody>
      </p:sp>
      <p:pic>
        <p:nvPicPr>
          <p:cNvPr id="3" name="Image 0" descr="report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120640" cy="44805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35040" y="1463040"/>
            <a:ext cx="557784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035040" y="157276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0.80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035040" y="219456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↔ Price — strong positive correlation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35040" y="292608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correlates strongly with Price — the clearest relationship in the dataset.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035040" y="365760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Bedrooms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shows only a weak positive correlation (r = 0.20).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035040" y="438912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Bathrooms &amp; Age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show negligible correlation with Price (r = -0.03, -0.13).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Bivariate Analysis — Price by Location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17320"/>
          <a:ext cx="6583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498080" y="1554480"/>
            <a:ext cx="411480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498080" y="16916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~2x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498080" y="23134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Center vs Rural price gap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498080" y="338328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shows a clear, ordered effect on Price: City Center properties sell for nearly double the price of Rural properties on average.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— Price per Sqft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Price_per_sqft = Price ÷ Area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Normalizes price by size, enabling fair comparison across listings of different scale.</a:t>
            </a:r>
            <a:endParaRPr lang="en-US" sz="1400" dirty="0"/>
          </a:p>
        </p:txBody>
      </p:sp>
      <p:pic>
        <p:nvPicPr>
          <p:cNvPr id="5" name="Image 0" descr="rpt_price_per_sq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86000"/>
            <a:ext cx="877824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601200" y="228600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601200" y="23774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₹12.5K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0" y="29992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Center /sqft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601200" y="384048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601200" y="3931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₹6.4K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601200" y="45537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/sqft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601200" y="530352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Confirms: City Center commands a genuinely higher rate per sqft — not just a higher price from larger properties.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 Testing (α = 0.05)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2743200"/>
        </p:xfrm>
        <a:graphic>
          <a:graphicData uri="http://schemas.openxmlformats.org/drawingml/2006/table">
            <a:tbl>
              <a:tblPr/>
              <a:tblGrid>
                <a:gridCol w="3291840"/>
                <a:gridCol w="2286000"/>
                <a:gridCol w="1828800"/>
                <a:gridCol w="36576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Relationship</a:t>
                      </a:r>
                      <a:endParaRPr lang="en-US" sz="14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4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p-value</a:t>
                      </a:r>
                      <a:endParaRPr lang="en-US" sz="14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Significant?</a:t>
                      </a:r>
                      <a:endParaRPr lang="en-US" sz="14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</a:rPr>
                        <a:t>Location → Price</a:t>
                      </a:r>
                      <a:endParaRPr lang="en-US" sz="13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ANOVA</a:t>
                      </a:r>
                      <a:endParaRPr lang="en-US" sz="13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&lt; 0.001</a:t>
                      </a:r>
                      <a:endParaRPr lang="en-US" sz="13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8E3E"/>
                          </a:solidFill>
                        </a:rPr>
                        <a:t>✓ Significant</a:t>
                      </a:r>
                      <a:endParaRPr lang="en-US" sz="13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</a:rPr>
                        <a:t>Area ↔ Price</a:t>
                      </a:r>
                      <a:endParaRPr lang="en-US" sz="13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Pearson</a:t>
                      </a:r>
                      <a:endParaRPr lang="en-US" sz="13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&lt; 0.001</a:t>
                      </a:r>
                      <a:endParaRPr lang="en-US" sz="13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8E3E"/>
                          </a:solidFill>
                        </a:rPr>
                        <a:t>✓ Significant</a:t>
                      </a:r>
                      <a:endParaRPr lang="en-US" sz="13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</a:rPr>
                        <a:t>Property_Type → Price</a:t>
                      </a:r>
                      <a:endParaRPr lang="en-US" sz="13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ANOVA</a:t>
                      </a:r>
                      <a:endParaRPr lang="en-US" sz="13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0.062</a:t>
                      </a:r>
                      <a:endParaRPr lang="en-US" sz="13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00020"/>
                          </a:solidFill>
                        </a:rPr>
                        <a:t>✗ Not significant</a:t>
                      </a:r>
                      <a:endParaRPr lang="en-US" sz="13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</a:rPr>
                        <a:t>Location ↔ Property_Type</a:t>
                      </a:r>
                      <a:endParaRPr lang="en-US" sz="13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Chi-square</a:t>
                      </a:r>
                      <a:endParaRPr lang="en-US" sz="13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0.978</a:t>
                      </a:r>
                      <a:endParaRPr lang="en-US" sz="13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00020"/>
                          </a:solidFill>
                        </a:rPr>
                        <a:t>✗ Not significant</a:t>
                      </a:r>
                      <a:endParaRPr lang="en-US" sz="13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57200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22960" y="48006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Property_Type's mild visual effect on Price (seen in boxplots) does NOT hold up under formal testing (p = 0.062) — a reminder that plots alone can mislead.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46304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is the strongest driver of Price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0" y="14630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0.80, p &lt; 0.001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96312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6791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79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2496312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has a significant, ordered effect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12480" y="249631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Center &gt; Suburb &gt; Rural, p &lt; 0.001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529584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371246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712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3529584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Property_Type does NOT significantly affect Price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12480" y="3529584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0.062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562856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474573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745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4562856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Bedrooms, Bathrooms, Age show weak/no effect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12480" y="4562856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Individually negligible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596128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577900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779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63040" y="5596128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&amp; Property_Type are independent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12480" y="559612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0.978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645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sample size (n = 300)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unusually clean — limited real-world messiness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shown, not causation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linear relationships tested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Property_Type result is borderline (p = 0.062)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146304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92240" y="1645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92240" y="219456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regression model using Area + Location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Deprioritize Property_Type in pricing models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 larger sample to retest borderline results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interaction effects (Area × Location)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263280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26328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315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and Location are the primary, statistically validated drivers of property Price. Property_Type, Bedrooms, Bathrooms, and Age contribute little independent signal. The cleaned dataset and validated findings provide a solid foundation for a predictive pricing model.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338328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26328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49300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Area–Price 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338328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263280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349300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&lt;0.001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74720" y="4114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p-value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338328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263280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349300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2x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126480" y="4114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vs Rural gap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778240" y="338328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263280"/>
          </a:solidFill>
          <a:ln/>
        </p:spPr>
      </p:sp>
      <p:sp>
        <p:nvSpPr>
          <p:cNvPr id="16" name="Text 14"/>
          <p:cNvSpPr/>
          <p:nvPr/>
        </p:nvSpPr>
        <p:spPr>
          <a:xfrm>
            <a:off x="8778240" y="349300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7/7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778240" y="4114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checks passed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56692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AA8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2026-08-13T08:35:30Z</dcterms:created>
  <dcterms:modified xsi:type="dcterms:W3CDTF">2026-08-13T08:35:30Z</dcterms:modified>
</cp:coreProperties>
</file>